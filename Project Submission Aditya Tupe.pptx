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6" r:id="rId7"/>
    <p:sldId id="287" r:id="rId8"/>
    <p:sldId id="288" r:id="rId9"/>
    <p:sldId id="289" r:id="rId10"/>
    <p:sldId id="290" r:id="rId11"/>
    <p:sldId id="299" r:id="rId12"/>
    <p:sldId id="291" r:id="rId13"/>
    <p:sldId id="292" r:id="rId14"/>
    <p:sldId id="293" r:id="rId15"/>
    <p:sldId id="294" r:id="rId16"/>
    <p:sldId id="295" r:id="rId17"/>
    <p:sldId id="296" r:id="rId18"/>
    <p:sldId id="297" r:id="rId19"/>
    <p:sldId id="298"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2BC362-7CE2-4BDE-85A9-4B0B529A5A59}" v="1" dt="2026-07-15T02:31:48.76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tupe38@gmail.com" userId="4112b430f9112144" providerId="LiveId" clId="{CCFDC472-7A43-42E3-AAC9-97DB58DD96E7}"/>
    <pc:docChg chg="modSld">
      <pc:chgData name="adityatupe38@gmail.com" userId="4112b430f9112144" providerId="LiveId" clId="{CCFDC472-7A43-42E3-AAC9-97DB58DD96E7}" dt="2026-07-15T02:31:48.766" v="0"/>
      <pc:docMkLst>
        <pc:docMk/>
      </pc:docMkLst>
      <pc:sldChg chg="modSp">
        <pc:chgData name="adityatupe38@gmail.com" userId="4112b430f9112144" providerId="LiveId" clId="{CCFDC472-7A43-42E3-AAC9-97DB58DD96E7}" dt="2026-07-15T02:31:48.766" v="0"/>
        <pc:sldMkLst>
          <pc:docMk/>
          <pc:sldMk cId="3140320228" sldId="299"/>
        </pc:sldMkLst>
        <pc:spChg chg="mod">
          <ac:chgData name="adityatupe38@gmail.com" userId="4112b430f9112144" providerId="LiveId" clId="{CCFDC472-7A43-42E3-AAC9-97DB58DD96E7}" dt="2026-07-15T02:31:48.766" v="0"/>
          <ac:spMkLst>
            <pc:docMk/>
            <pc:sldMk cId="3140320228" sldId="299"/>
            <ac:spMk id="3" creationId="{1885B61C-9FDB-28F5-6C26-A022B04C1A0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dityatupe38-lgtm/Smart-Mechanical-fault-diagnosis-agent"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4043866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2000" dirty="0"/>
                        <a:t>Aditya Sunil Tupe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adityatupe38@gmail.com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+919321810165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US" sz="2400" dirty="0">
                <a:highlight>
                  <a:srgbClr val="FFFF00"/>
                </a:highlight>
              </a:rPr>
              <a:t>Mechanical Engineering and AI]</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pPr fontAlgn="base"/>
            <a:r>
              <a:rPr lang="en-US" sz="2400" b="1" dirty="0"/>
              <a:t>Project Tile – </a:t>
            </a:r>
            <a:r>
              <a:rPr lang="en-US" sz="2400" b="1" dirty="0">
                <a:highlight>
                  <a:srgbClr val="FFFF00"/>
                </a:highlight>
              </a:rPr>
              <a:t>[</a:t>
            </a:r>
            <a:r>
              <a:rPr lang="en-US" sz="2400" dirty="0">
                <a:highlight>
                  <a:srgbClr val="FFFF00"/>
                </a:highlight>
              </a:rPr>
              <a:t>The Smart Mechanical Fault Diagnosis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8" name="Picture 7">
            <a:extLst>
              <a:ext uri="{FF2B5EF4-FFF2-40B4-BE49-F238E27FC236}">
                <a16:creationId xmlns:a16="http://schemas.microsoft.com/office/drawing/2014/main" id="{622E1BE9-1E4D-F092-3478-5D2CFF795769}"/>
              </a:ext>
            </a:extLst>
          </p:cNvPr>
          <p:cNvPicPr>
            <a:picLocks noChangeAspect="1"/>
          </p:cNvPicPr>
          <p:nvPr/>
        </p:nvPicPr>
        <p:blipFill>
          <a:blip r:embed="rId3"/>
          <a:stretch>
            <a:fillRect/>
          </a:stretch>
        </p:blipFill>
        <p:spPr>
          <a:xfrm>
            <a:off x="4023360" y="3639312"/>
            <a:ext cx="974877" cy="985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62870"/>
          </a:xfrm>
          <a:prstGeom prst="rect">
            <a:avLst/>
          </a:prstGeom>
          <a:noFill/>
        </p:spPr>
        <p:txBody>
          <a:bodyPr wrap="square" rtlCol="0">
            <a:spAutoFit/>
          </a:bodyPr>
          <a:lstStyle/>
          <a:p>
            <a:pPr fontAlgn="base"/>
            <a:r>
              <a:rPr lang="en-US" sz="1600" b="1" dirty="0"/>
              <a:t>Problem Statement : </a:t>
            </a:r>
            <a:r>
              <a:rPr lang="en-US" dirty="0"/>
              <a:t>The Smart Mechanical Fault Diagnosis Agent</a:t>
            </a:r>
          </a:p>
          <a:p>
            <a:pPr fontAlgn="base"/>
            <a:endParaRPr lang="en-US" b="1" dirty="0"/>
          </a:p>
          <a:p>
            <a:pPr algn="just" fontAlgn="base"/>
            <a:r>
              <a:rPr lang="en-US" b="1" dirty="0"/>
              <a:t> </a:t>
            </a:r>
            <a:r>
              <a:rPr lang="en-US" dirty="0"/>
              <a:t>The Challenge Mechanical systems such as engines, pumps, and gearboxes often experience faults that are difficult to diagnose quickly. Engineers and technicians typically rely on manual inspections, experience, and trial‑and‑error troubleshooting methods. This process can lead to extended downtime, higher maintenance costs, and inefficient repair processes. The Objective Build an AI-powered Mechanical Fault Diagnosis Agent that analyzes machine symptoms, sensor data, and historical maintenance logs to identify possible mechanical faults.</a:t>
            </a:r>
          </a:p>
          <a:p>
            <a:pPr algn="just" fontAlgn="base"/>
            <a:r>
              <a:rPr lang="en-US" dirty="0"/>
              <a:t>1.Fault Data Retrieval (RAG) :– Collect historical fault records and maintenance logs. </a:t>
            </a:r>
          </a:p>
          <a:p>
            <a:pPr algn="just" fontAlgn="base"/>
            <a:endParaRPr lang="en-US" dirty="0"/>
          </a:p>
          <a:p>
            <a:pPr algn="just" fontAlgn="base"/>
            <a:r>
              <a:rPr lang="en-US" dirty="0"/>
              <a:t>2. Symptom Analysis :– Analyze vibration patterns, noise signals, and temperature anomalies. </a:t>
            </a:r>
          </a:p>
          <a:p>
            <a:pPr algn="just" fontAlgn="base"/>
            <a:endParaRPr lang="en-US" dirty="0"/>
          </a:p>
          <a:p>
            <a:pPr algn="just" fontAlgn="base"/>
            <a:r>
              <a:rPr lang="en-US" dirty="0"/>
              <a:t>3. Root Cause Identification :– Identify the most probable cause of failure. Repair Guidance – Provide recommended repair procedures. </a:t>
            </a:r>
          </a:p>
          <a:p>
            <a:pPr algn="just" fontAlgn="base"/>
            <a:endParaRPr lang="en-US" dirty="0"/>
          </a:p>
          <a:p>
            <a:pPr algn="just" fontAlgn="base"/>
            <a:r>
              <a:rPr lang="en-US" dirty="0"/>
              <a:t>4. Multi-Agent System • Symptom Detection Agent – Collects machine symptoms and sensor signals. • Fault Analysis Agent – Matches symptoms with known fault patterns. • Root Cause Agent – Determines the probable mechanical issue. • Repair Guidance Agent – Suggests troubleshooting and repair procedures.</a:t>
            </a:r>
          </a:p>
          <a:p>
            <a:pPr algn="just" fontAlgn="base"/>
            <a:endParaRPr lang="en-US" dirty="0"/>
          </a:p>
          <a:p>
            <a:pPr algn="just" fontAlgn="base"/>
            <a:r>
              <a:rPr lang="en-US" dirty="0"/>
              <a:t> 5. Visualization Dashboard Display fault alerts, root cause explanations, and repair recommendations. </a:t>
            </a:r>
          </a:p>
          <a:p>
            <a:pPr algn="just" fontAlgn="base"/>
            <a:endParaRPr lang="en-US" dirty="0"/>
          </a:p>
          <a:p>
            <a:pPr algn="just" fontAlgn="base"/>
            <a:r>
              <a:rPr lang="en-US" b="1" dirty="0"/>
              <a:t>Tech Stack</a:t>
            </a:r>
            <a:r>
              <a:rPr lang="en-US" dirty="0"/>
              <a:t> • IBM </a:t>
            </a:r>
            <a:r>
              <a:rPr lang="en-US" dirty="0" err="1"/>
              <a:t>Langflow</a:t>
            </a:r>
            <a:r>
              <a:rPr lang="en-US" dirty="0"/>
              <a:t> / IBM Orchestrate + IBM Models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72395"/>
            <a:ext cx="10607040" cy="5909310"/>
          </a:xfrm>
          <a:prstGeom prst="rect">
            <a:avLst/>
          </a:prstGeom>
          <a:noFill/>
        </p:spPr>
        <p:txBody>
          <a:bodyPr wrap="square" rtlCol="0">
            <a:spAutoFit/>
          </a:bodyPr>
          <a:lstStyle/>
          <a:p>
            <a:pPr algn="just"/>
            <a:r>
              <a:rPr lang="en-IN" b="1" dirty="0"/>
              <a:t>Proposed Solution – The Smart Mechanical Fault Diagnosis Agent</a:t>
            </a:r>
          </a:p>
          <a:p>
            <a:pPr algn="just"/>
            <a:endParaRPr lang="en-IN" b="1" dirty="0"/>
          </a:p>
          <a:p>
            <a:pPr algn="just"/>
            <a:r>
              <a:rPr lang="en-IN" dirty="0"/>
              <a:t>The proposed solution is to develop an </a:t>
            </a:r>
            <a:r>
              <a:rPr lang="en-IN" b="1" dirty="0"/>
              <a:t>AI-powered multi-agent system</a:t>
            </a:r>
            <a:r>
              <a:rPr lang="en-IN" dirty="0"/>
              <a:t> capable of diagnosing mechanical faults intelligently and efficiently. The system will integrate sensor data, historical maintenance logs, and machine learning models to predict, </a:t>
            </a:r>
            <a:r>
              <a:rPr lang="en-IN" dirty="0" err="1"/>
              <a:t>analyze</a:t>
            </a:r>
            <a:r>
              <a:rPr lang="en-IN" dirty="0"/>
              <a:t>, and guide repair actions for mechanical systems such as engines, pumps, and gearboxes.</a:t>
            </a:r>
          </a:p>
          <a:p>
            <a:pPr algn="just"/>
            <a:endParaRPr lang="en-IN" dirty="0"/>
          </a:p>
          <a:p>
            <a:pPr algn="just"/>
            <a:r>
              <a:rPr lang="en-IN" b="1" dirty="0"/>
              <a:t>Data Integration and Preprocessing:</a:t>
            </a:r>
            <a:r>
              <a:rPr lang="en-IN" dirty="0"/>
              <a:t> Collect and preprocess data from vibration sensors, temperature sensors, and maintenance logs using IBM </a:t>
            </a:r>
            <a:r>
              <a:rPr lang="en-IN" dirty="0" err="1"/>
              <a:t>Langflow</a:t>
            </a:r>
            <a:r>
              <a:rPr lang="en-IN" dirty="0"/>
              <a:t> pipelines. Ensure data consistency and remove noise for accurate analysis.</a:t>
            </a:r>
          </a:p>
          <a:p>
            <a:pPr algn="just"/>
            <a:endParaRPr lang="en-IN" dirty="0"/>
          </a:p>
          <a:p>
            <a:pPr algn="just"/>
            <a:r>
              <a:rPr lang="en-IN" b="1" dirty="0"/>
              <a:t>Symptom Detection Agent:</a:t>
            </a:r>
            <a:r>
              <a:rPr lang="en-IN" dirty="0"/>
              <a:t> Continuously monitor real-time sensor data to detect anomalies in vibration, noise, and temperature patterns. Trigger alerts when deviations from normal operating conditions are observed.</a:t>
            </a:r>
          </a:p>
          <a:p>
            <a:pPr algn="just"/>
            <a:endParaRPr lang="en-IN" dirty="0"/>
          </a:p>
          <a:p>
            <a:pPr algn="just"/>
            <a:r>
              <a:rPr lang="en-IN" b="1" dirty="0"/>
              <a:t>Fault Analysis Agent:</a:t>
            </a:r>
            <a:r>
              <a:rPr lang="en-IN" dirty="0"/>
              <a:t> Utilize trained AI models to match detected symptoms with known fault patterns. Classify faults based on severity and type using IBM Models for predictive analytics.</a:t>
            </a:r>
          </a:p>
          <a:p>
            <a:pPr algn="just"/>
            <a:endParaRPr lang="en-IN" dirty="0"/>
          </a:p>
          <a:p>
            <a:pPr algn="just"/>
            <a:r>
              <a:rPr lang="en-IN" b="1" dirty="0"/>
              <a:t>Root Cause Agent:</a:t>
            </a:r>
            <a:r>
              <a:rPr lang="en-IN" dirty="0"/>
              <a:t> Apply reasoning algorithms to identify the most probable cause of failure. Use historical data correlations and pattern recognition to pinpoint mechanical issues.</a:t>
            </a:r>
          </a:p>
          <a:p>
            <a:pPr algn="just"/>
            <a:endParaRPr lang="en-IN" dirty="0"/>
          </a:p>
          <a:p>
            <a:pPr algn="just"/>
            <a:r>
              <a:rPr lang="en-IN" b="1" dirty="0"/>
              <a:t>Repair Guidance Agent:</a:t>
            </a:r>
            <a:r>
              <a:rPr lang="en-IN" dirty="0"/>
              <a:t> Generate recommended troubleshooting and repair procedures based on identified faults. Provide step-by-step guidance to technicians for efficient resolution.</a:t>
            </a:r>
          </a:p>
          <a:p>
            <a:pPr algn="just"/>
            <a:endParaRPr lang="en-IN" dirty="0"/>
          </a:p>
          <a:p>
            <a:pPr algn="just"/>
            <a:r>
              <a:rPr lang="en-IN" b="1" dirty="0"/>
              <a:t>Visualization Dashboard:</a:t>
            </a:r>
            <a:r>
              <a:rPr lang="en-IN" dirty="0"/>
              <a:t> Develop an interactive dashboard using IBM Orchestrate to display fault alerts, root cause explanations, and recommended repair actions. Include trend analysis and performance metrics for decision-making.</a:t>
            </a:r>
          </a:p>
          <a:p>
            <a:pPr algn="just"/>
            <a:endParaRPr lang="en-IN" dirty="0"/>
          </a:p>
          <a:p>
            <a:pPr algn="just"/>
            <a:r>
              <a:rPr lang="en-IN" b="1" dirty="0"/>
              <a:t>Continuous Learning:</a:t>
            </a:r>
            <a:r>
              <a:rPr lang="en-IN" dirty="0"/>
              <a:t> Implement feedback loops where repair outcomes are fed back into the system to improve diagnostic accuracy over time.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72595"/>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b="1" dirty="0" err="1"/>
              <a:t>Langflow</a:t>
            </a:r>
            <a:r>
              <a:rPr lang="en-IN" sz="1800" b="1" dirty="0"/>
              <a:t> platform</a:t>
            </a:r>
            <a:r>
              <a:rPr lang="en-IN" sz="1800" dirty="0"/>
              <a:t> – For designing and orchestrating multi-agent workflows visually to manage fault detection, analysis, and repair guidance.</a:t>
            </a:r>
          </a:p>
          <a:p>
            <a:endParaRPr lang="en-IN" sz="1800" dirty="0"/>
          </a:p>
          <a:p>
            <a:pPr marL="285750" indent="-285750">
              <a:buFont typeface="Arial" panose="020B0604020202020204" pitchFamily="34" charset="0"/>
              <a:buChar char="•"/>
            </a:pPr>
            <a:r>
              <a:rPr lang="en-IN" sz="1800" b="1" dirty="0"/>
              <a:t>IBM Granite model</a:t>
            </a:r>
            <a:r>
              <a:rPr lang="en-IN" sz="1800" dirty="0"/>
              <a:t> – For example, </a:t>
            </a:r>
            <a:r>
              <a:rPr lang="en-IN" sz="1800" i="1" dirty="0"/>
              <a:t>ibm-granite-3-2-8b</a:t>
            </a:r>
            <a:r>
              <a:rPr lang="en-IN" sz="1800" dirty="0"/>
              <a:t> – Used for natural language understanding, reasoning, and generating intelligent diagnostic insights from machine data.</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IBM Cloud</a:t>
            </a:r>
            <a:r>
              <a:rPr lang="en-IN" sz="1800" dirty="0"/>
              <a:t> – Provides a reliable, secure, and scalable infrastructure to build, deploy, and manage the Mechanical Fault Diagnosis Agent efficiently.</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RAG (Retrieval-Augmented Generation)</a:t>
            </a:r>
            <a:r>
              <a:rPr lang="en-IN" sz="1800" dirty="0"/>
              <a:t> – Fetches real-time mechanical data first, then generates intelligent diagnostic responses, improving accuracy and trustworthiness.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IBM Watsonx.ai</a:t>
            </a:r>
            <a:r>
              <a:rPr lang="en-IN" sz="1800" dirty="0"/>
              <a:t> – Used for model deployment, embeddings, and AI governance to ensure robust and compliant machine learning operations.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Vector Database (FAISS/Chroma)</a:t>
            </a:r>
            <a:r>
              <a:rPr lang="en-IN" sz="1800" dirty="0"/>
              <a:t> – Enables RAG-based retrieval of mechanical fault records, sensor data, and maintenance logs for faster and more precise fault identification.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64A2-41EB-E2A1-08EF-4E8BA7574869}"/>
              </a:ext>
            </a:extLst>
          </p:cNvPr>
          <p:cNvSpPr>
            <a:spLocks noGrp="1"/>
          </p:cNvSpPr>
          <p:nvPr>
            <p:ph type="title"/>
          </p:nvPr>
        </p:nvSpPr>
        <p:spPr>
          <a:xfrm>
            <a:off x="838200" y="344805"/>
            <a:ext cx="10515600" cy="1325563"/>
          </a:xfrm>
        </p:spPr>
        <p:txBody>
          <a:bodyPr>
            <a:normAutofit/>
          </a:bodyPr>
          <a:lstStyle/>
          <a:p>
            <a:r>
              <a:rPr lang="en-IN" sz="2800" b="1" dirty="0" err="1">
                <a:latin typeface="+mj-lt"/>
              </a:rPr>
              <a:t>Langflow</a:t>
            </a:r>
            <a:r>
              <a:rPr lang="en-IN" sz="2800" b="1" dirty="0">
                <a:latin typeface="+mj-lt"/>
              </a:rPr>
              <a:t> Components Used </a:t>
            </a:r>
            <a:r>
              <a:rPr lang="en-IN" sz="2800" dirty="0">
                <a:latin typeface="+mj-lt"/>
              </a:rPr>
              <a:t>–</a:t>
            </a:r>
          </a:p>
        </p:txBody>
      </p:sp>
      <p:sp>
        <p:nvSpPr>
          <p:cNvPr id="3" name="Text Placeholder 2">
            <a:extLst>
              <a:ext uri="{FF2B5EF4-FFF2-40B4-BE49-F238E27FC236}">
                <a16:creationId xmlns:a16="http://schemas.microsoft.com/office/drawing/2014/main" id="{D451B8B3-706A-3F99-64A3-8C304B5F3C82}"/>
              </a:ext>
            </a:extLst>
          </p:cNvPr>
          <p:cNvSpPr>
            <a:spLocks noGrp="1"/>
          </p:cNvSpPr>
          <p:nvPr>
            <p:ph type="body" idx="1"/>
          </p:nvPr>
        </p:nvSpPr>
        <p:spPr>
          <a:xfrm>
            <a:off x="838200" y="1523873"/>
            <a:ext cx="10515600" cy="4351338"/>
          </a:xfrm>
        </p:spPr>
        <p:txBody>
          <a:bodyPr>
            <a:normAutofit/>
          </a:bodyPr>
          <a:lstStyle/>
          <a:p>
            <a:pPr marL="114300" indent="0">
              <a:buNone/>
            </a:pPr>
            <a:r>
              <a:rPr lang="en-IN" sz="1600" b="1" dirty="0">
                <a:latin typeface="+mj-lt"/>
              </a:rPr>
              <a:t>1)Chat Input</a:t>
            </a:r>
            <a:r>
              <a:rPr lang="en-IN" sz="1600" dirty="0">
                <a:latin typeface="+mj-lt"/>
              </a:rPr>
              <a:t> – Interface where users enter queries related to machine faults, symptoms, or sensor readings (text/voice/image).</a:t>
            </a:r>
          </a:p>
          <a:p>
            <a:pPr marL="114300" indent="0">
              <a:buNone/>
            </a:pPr>
            <a:r>
              <a:rPr lang="en-IN" sz="1600" b="1" dirty="0">
                <a:latin typeface="+mj-lt"/>
              </a:rPr>
              <a:t>2) IBM </a:t>
            </a:r>
            <a:r>
              <a:rPr lang="en-IN" sz="1600" b="1" dirty="0" err="1">
                <a:latin typeface="+mj-lt"/>
              </a:rPr>
              <a:t>watsonx</a:t>
            </a:r>
            <a:r>
              <a:rPr lang="en-IN" sz="1600" b="1" dirty="0">
                <a:latin typeface="+mj-lt"/>
              </a:rPr>
              <a:t> AI Agent</a:t>
            </a:r>
            <a:r>
              <a:rPr lang="en-IN" sz="1600" dirty="0">
                <a:latin typeface="+mj-lt"/>
              </a:rPr>
              <a:t> – Processes user input using Granite models to generate intelligent diagnostic insights and repair recommendations.</a:t>
            </a:r>
          </a:p>
          <a:p>
            <a:pPr marL="114300" indent="0">
              <a:buNone/>
            </a:pPr>
            <a:r>
              <a:rPr lang="en-IN" sz="1600" b="1" dirty="0">
                <a:latin typeface="+mj-lt"/>
              </a:rPr>
              <a:t>3) Name of IBM Granite model</a:t>
            </a:r>
            <a:r>
              <a:rPr lang="en-IN" sz="1600" dirty="0">
                <a:latin typeface="+mj-lt"/>
              </a:rPr>
              <a:t> – </a:t>
            </a:r>
            <a:r>
              <a:rPr lang="en-IN" sz="1600" i="1" dirty="0">
                <a:latin typeface="+mj-lt"/>
              </a:rPr>
              <a:t>Granite‑4.0‑8B‑Instruct</a:t>
            </a:r>
            <a:r>
              <a:rPr lang="en-IN" sz="1600" dirty="0">
                <a:latin typeface="+mj-lt"/>
              </a:rPr>
              <a:t> → Fast and efficient for real‑time fault analysis and predictive maintenance suggestions.</a:t>
            </a:r>
          </a:p>
          <a:p>
            <a:pPr marL="114300" indent="0">
              <a:buNone/>
            </a:pPr>
            <a:r>
              <a:rPr lang="en-IN" sz="1600" b="1" dirty="0">
                <a:latin typeface="+mj-lt"/>
              </a:rPr>
              <a:t>4) Chat Output</a:t>
            </a:r>
            <a:r>
              <a:rPr lang="en-IN" sz="1600" dirty="0">
                <a:latin typeface="+mj-lt"/>
              </a:rPr>
              <a:t> – Displays AI‑generated responses such as fault identification, root cause analysis, and recommended repair procedures.</a:t>
            </a:r>
          </a:p>
          <a:p>
            <a:pPr marL="114300" indent="0">
              <a:buNone/>
            </a:pPr>
            <a:r>
              <a:rPr lang="en-IN" sz="1600" b="1" dirty="0">
                <a:latin typeface="+mj-lt"/>
              </a:rPr>
              <a:t>5) File Component</a:t>
            </a:r>
            <a:r>
              <a:rPr lang="en-IN" sz="1600" dirty="0">
                <a:latin typeface="+mj-lt"/>
              </a:rPr>
              <a:t> – Stores and retrieves machine data, sensor logs, and historical maintenance records for analysis and tracking.</a:t>
            </a:r>
          </a:p>
          <a:p>
            <a:pPr marL="114300" indent="0">
              <a:buNone/>
            </a:pPr>
            <a:r>
              <a:rPr lang="en-IN" sz="1600" b="1" dirty="0">
                <a:latin typeface="+mj-lt"/>
              </a:rPr>
              <a:t>6) Data Processing Component</a:t>
            </a:r>
            <a:r>
              <a:rPr lang="en-IN" sz="1600" dirty="0">
                <a:latin typeface="+mj-lt"/>
              </a:rPr>
              <a:t> – Cleans, normalizes, and structures sensor data before feeding it into the AI model for accurate fault prediction.</a:t>
            </a:r>
          </a:p>
          <a:p>
            <a:pPr marL="114300" indent="0">
              <a:buNone/>
            </a:pPr>
            <a:endParaRPr lang="en-IN" sz="2000" dirty="0"/>
          </a:p>
        </p:txBody>
      </p:sp>
    </p:spTree>
    <p:extLst>
      <p:ext uri="{BB962C8B-B14F-4D97-AF65-F5344CB8AC3E}">
        <p14:creationId xmlns:p14="http://schemas.microsoft.com/office/powerpoint/2010/main" val="3675530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A50A3-81A6-E7F1-1F46-340643CE5F6F}"/>
              </a:ext>
            </a:extLst>
          </p:cNvPr>
          <p:cNvSpPr>
            <a:spLocks noGrp="1"/>
          </p:cNvSpPr>
          <p:nvPr>
            <p:ph type="title"/>
          </p:nvPr>
        </p:nvSpPr>
        <p:spPr>
          <a:xfrm>
            <a:off x="838200" y="-14923"/>
            <a:ext cx="10515600" cy="1325563"/>
          </a:xfrm>
        </p:spPr>
        <p:txBody>
          <a:bodyPr>
            <a:normAutofit/>
          </a:bodyPr>
          <a:lstStyle/>
          <a:p>
            <a:r>
              <a:rPr lang="en-US" sz="2800" b="1" dirty="0" err="1">
                <a:latin typeface="+mj-lt"/>
              </a:rPr>
              <a:t>Langflow</a:t>
            </a:r>
            <a:r>
              <a:rPr lang="en-US" sz="2800" b="1" dirty="0">
                <a:latin typeface="+mj-lt"/>
              </a:rPr>
              <a:t> Workflow -</a:t>
            </a:r>
            <a:endParaRPr lang="en-IN" sz="2800" b="1" dirty="0">
              <a:latin typeface="+mj-lt"/>
            </a:endParaRPr>
          </a:p>
        </p:txBody>
      </p:sp>
      <p:sp>
        <p:nvSpPr>
          <p:cNvPr id="3" name="Text Placeholder 2">
            <a:extLst>
              <a:ext uri="{FF2B5EF4-FFF2-40B4-BE49-F238E27FC236}">
                <a16:creationId xmlns:a16="http://schemas.microsoft.com/office/drawing/2014/main" id="{3B2F128D-12C6-3642-6750-78E5BAFE6B23}"/>
              </a:ext>
            </a:extLst>
          </p:cNvPr>
          <p:cNvSpPr>
            <a:spLocks noGrp="1"/>
          </p:cNvSpPr>
          <p:nvPr>
            <p:ph type="body" idx="1"/>
          </p:nvPr>
        </p:nvSpPr>
        <p:spPr/>
        <p:txBody>
          <a:bodyPr/>
          <a:lstStyle/>
          <a:p>
            <a:pPr marL="114300" indent="0">
              <a:buNone/>
            </a:pPr>
            <a:endParaRPr lang="en-IN" dirty="0"/>
          </a:p>
        </p:txBody>
      </p:sp>
      <p:pic>
        <p:nvPicPr>
          <p:cNvPr id="5" name="Picture 4">
            <a:extLst>
              <a:ext uri="{FF2B5EF4-FFF2-40B4-BE49-F238E27FC236}">
                <a16:creationId xmlns:a16="http://schemas.microsoft.com/office/drawing/2014/main" id="{2B89D254-B2AA-F873-52C0-193373F67AB4}"/>
              </a:ext>
            </a:extLst>
          </p:cNvPr>
          <p:cNvPicPr>
            <a:picLocks noChangeAspect="1"/>
          </p:cNvPicPr>
          <p:nvPr/>
        </p:nvPicPr>
        <p:blipFill>
          <a:blip r:embed="rId2"/>
          <a:stretch>
            <a:fillRect/>
          </a:stretch>
        </p:blipFill>
        <p:spPr>
          <a:xfrm>
            <a:off x="838200" y="914400"/>
            <a:ext cx="11064240" cy="5578475"/>
          </a:xfrm>
          <a:prstGeom prst="rect">
            <a:avLst/>
          </a:prstGeom>
        </p:spPr>
      </p:pic>
    </p:spTree>
    <p:extLst>
      <p:ext uri="{BB962C8B-B14F-4D97-AF65-F5344CB8AC3E}">
        <p14:creationId xmlns:p14="http://schemas.microsoft.com/office/powerpoint/2010/main" val="2953944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EDC5-A7B0-1415-F1BF-A5E360C8A837}"/>
              </a:ext>
            </a:extLst>
          </p:cNvPr>
          <p:cNvSpPr>
            <a:spLocks noGrp="1"/>
          </p:cNvSpPr>
          <p:nvPr>
            <p:ph type="title"/>
          </p:nvPr>
        </p:nvSpPr>
        <p:spPr>
          <a:xfrm>
            <a:off x="838200" y="0"/>
            <a:ext cx="10515600" cy="1325563"/>
          </a:xfrm>
        </p:spPr>
        <p:txBody>
          <a:bodyPr>
            <a:normAutofit/>
          </a:bodyPr>
          <a:lstStyle/>
          <a:p>
            <a:r>
              <a:rPr lang="en-IN" sz="2800" b="1" dirty="0">
                <a:latin typeface="+mj-lt"/>
              </a:rPr>
              <a:t>Smart Mechanical Fault Diagnosis Agent -</a:t>
            </a:r>
          </a:p>
        </p:txBody>
      </p:sp>
      <p:sp>
        <p:nvSpPr>
          <p:cNvPr id="3" name="Text Placeholder 2">
            <a:extLst>
              <a:ext uri="{FF2B5EF4-FFF2-40B4-BE49-F238E27FC236}">
                <a16:creationId xmlns:a16="http://schemas.microsoft.com/office/drawing/2014/main" id="{DD16CB15-4C59-2C67-1CD6-5D274B2100CE}"/>
              </a:ext>
            </a:extLst>
          </p:cNvPr>
          <p:cNvSpPr>
            <a:spLocks noGrp="1"/>
          </p:cNvSpPr>
          <p:nvPr>
            <p:ph type="body" idx="1"/>
          </p:nvPr>
        </p:nvSpPr>
        <p:spPr/>
        <p:txBody>
          <a:bodyPr/>
          <a:lstStyle/>
          <a:p>
            <a:pPr marL="114300" indent="0">
              <a:buNone/>
            </a:pPr>
            <a:endParaRPr lang="en-IN" dirty="0"/>
          </a:p>
        </p:txBody>
      </p:sp>
      <p:pic>
        <p:nvPicPr>
          <p:cNvPr id="5" name="Picture 4">
            <a:extLst>
              <a:ext uri="{FF2B5EF4-FFF2-40B4-BE49-F238E27FC236}">
                <a16:creationId xmlns:a16="http://schemas.microsoft.com/office/drawing/2014/main" id="{E73B83BA-7292-A5F1-1674-3EAC39A8E931}"/>
              </a:ext>
            </a:extLst>
          </p:cNvPr>
          <p:cNvPicPr>
            <a:picLocks noChangeAspect="1"/>
          </p:cNvPicPr>
          <p:nvPr/>
        </p:nvPicPr>
        <p:blipFill>
          <a:blip r:embed="rId2"/>
          <a:stretch>
            <a:fillRect/>
          </a:stretch>
        </p:blipFill>
        <p:spPr>
          <a:xfrm>
            <a:off x="838200" y="944880"/>
            <a:ext cx="11008360" cy="5689600"/>
          </a:xfrm>
          <a:prstGeom prst="rect">
            <a:avLst/>
          </a:prstGeom>
        </p:spPr>
      </p:pic>
    </p:spTree>
    <p:extLst>
      <p:ext uri="{BB962C8B-B14F-4D97-AF65-F5344CB8AC3E}">
        <p14:creationId xmlns:p14="http://schemas.microsoft.com/office/powerpoint/2010/main" val="3483877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660A-3626-8853-51E5-30182E6D3862}"/>
              </a:ext>
            </a:extLst>
          </p:cNvPr>
          <p:cNvSpPr>
            <a:spLocks noGrp="1"/>
          </p:cNvSpPr>
          <p:nvPr>
            <p:ph type="title"/>
          </p:nvPr>
        </p:nvSpPr>
        <p:spPr>
          <a:xfrm>
            <a:off x="838200" y="-180975"/>
            <a:ext cx="10515600" cy="1325563"/>
          </a:xfrm>
        </p:spPr>
        <p:txBody>
          <a:bodyPr>
            <a:normAutofit/>
          </a:bodyPr>
          <a:lstStyle/>
          <a:p>
            <a:pPr lvl="0"/>
            <a:r>
              <a:rPr lang="en-US" sz="2800" b="1" dirty="0">
                <a:latin typeface="+mj-lt"/>
              </a:rPr>
              <a:t>Architecture blueprint</a:t>
            </a:r>
            <a:endParaRPr lang="en-US" sz="2800" dirty="0">
              <a:latin typeface="+mj-lt"/>
            </a:endParaRPr>
          </a:p>
        </p:txBody>
      </p:sp>
      <p:sp>
        <p:nvSpPr>
          <p:cNvPr id="3" name="Text Placeholder 2">
            <a:extLst>
              <a:ext uri="{FF2B5EF4-FFF2-40B4-BE49-F238E27FC236}">
                <a16:creationId xmlns:a16="http://schemas.microsoft.com/office/drawing/2014/main" id="{0FF36126-F149-E4D5-190B-6CE40E8DC65C}"/>
              </a:ext>
            </a:extLst>
          </p:cNvPr>
          <p:cNvSpPr>
            <a:spLocks noGrp="1"/>
          </p:cNvSpPr>
          <p:nvPr>
            <p:ph type="body" idx="1"/>
          </p:nvPr>
        </p:nvSpPr>
        <p:spPr/>
        <p:txBody>
          <a:bodyPr/>
          <a:lstStyle/>
          <a:p>
            <a:pPr marL="114300" indent="0">
              <a:buNone/>
            </a:pPr>
            <a:endParaRPr lang="en-IN" dirty="0"/>
          </a:p>
        </p:txBody>
      </p:sp>
      <p:pic>
        <p:nvPicPr>
          <p:cNvPr id="5" name="Picture 4">
            <a:extLst>
              <a:ext uri="{FF2B5EF4-FFF2-40B4-BE49-F238E27FC236}">
                <a16:creationId xmlns:a16="http://schemas.microsoft.com/office/drawing/2014/main" id="{1F7F2E17-C5BC-99B0-2577-70A74A454696}"/>
              </a:ext>
            </a:extLst>
          </p:cNvPr>
          <p:cNvPicPr>
            <a:picLocks noChangeAspect="1"/>
          </p:cNvPicPr>
          <p:nvPr/>
        </p:nvPicPr>
        <p:blipFill>
          <a:blip r:embed="rId2"/>
          <a:stretch>
            <a:fillRect/>
          </a:stretch>
        </p:blipFill>
        <p:spPr>
          <a:xfrm>
            <a:off x="838200" y="782320"/>
            <a:ext cx="10825480" cy="6075680"/>
          </a:xfrm>
          <a:prstGeom prst="rect">
            <a:avLst/>
          </a:prstGeom>
        </p:spPr>
      </p:pic>
    </p:spTree>
    <p:extLst>
      <p:ext uri="{BB962C8B-B14F-4D97-AF65-F5344CB8AC3E}">
        <p14:creationId xmlns:p14="http://schemas.microsoft.com/office/powerpoint/2010/main" val="160771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4498-4DAC-6EA8-D80E-6D0E4D71C298}"/>
              </a:ext>
            </a:extLst>
          </p:cNvPr>
          <p:cNvSpPr>
            <a:spLocks noGrp="1"/>
          </p:cNvSpPr>
          <p:nvPr>
            <p:ph type="title"/>
          </p:nvPr>
        </p:nvSpPr>
        <p:spPr/>
        <p:txBody>
          <a:bodyPr/>
          <a:lstStyle/>
          <a:p>
            <a:r>
              <a:rPr lang="en-US" sz="2800" b="1" dirty="0">
                <a:latin typeface="+mj-lt"/>
              </a:rPr>
              <a:t>Role of Agentic AI in the solution </a:t>
            </a:r>
            <a:br>
              <a:rPr lang="en-IN" b="1" dirty="0"/>
            </a:br>
            <a:endParaRPr lang="en-IN" dirty="0"/>
          </a:p>
        </p:txBody>
      </p:sp>
      <p:sp>
        <p:nvSpPr>
          <p:cNvPr id="3" name="Text Placeholder 2">
            <a:extLst>
              <a:ext uri="{FF2B5EF4-FFF2-40B4-BE49-F238E27FC236}">
                <a16:creationId xmlns:a16="http://schemas.microsoft.com/office/drawing/2014/main" id="{A6AE46A5-E62F-C4C1-4AA8-5D99564F0018}"/>
              </a:ext>
            </a:extLst>
          </p:cNvPr>
          <p:cNvSpPr>
            <a:spLocks noGrp="1"/>
          </p:cNvSpPr>
          <p:nvPr>
            <p:ph type="body" idx="1"/>
          </p:nvPr>
        </p:nvSpPr>
        <p:spPr>
          <a:xfrm>
            <a:off x="838200" y="1259840"/>
            <a:ext cx="7218680" cy="4917123"/>
          </a:xfrm>
        </p:spPr>
        <p:txBody>
          <a:bodyPr>
            <a:normAutofit/>
          </a:bodyPr>
          <a:lstStyle/>
          <a:p>
            <a:pPr marL="114300" indent="0" algn="just">
              <a:buNone/>
            </a:pPr>
            <a:r>
              <a:rPr lang="en-IN" sz="2000" dirty="0">
                <a:latin typeface="+mj-lt"/>
              </a:rPr>
              <a:t>In this solution, </a:t>
            </a:r>
            <a:r>
              <a:rPr lang="en-IN" sz="2000" b="1" dirty="0">
                <a:latin typeface="+mj-lt"/>
              </a:rPr>
              <a:t>IBM watsonx.ai</a:t>
            </a:r>
            <a:r>
              <a:rPr lang="en-IN" sz="2000" dirty="0">
                <a:latin typeface="+mj-lt"/>
              </a:rPr>
              <a:t> hosts the </a:t>
            </a:r>
            <a:r>
              <a:rPr lang="en-IN" sz="2000" b="1" dirty="0">
                <a:latin typeface="+mj-lt"/>
              </a:rPr>
              <a:t>Granite foundation model</a:t>
            </a:r>
            <a:r>
              <a:rPr lang="en-IN" sz="2000" dirty="0">
                <a:latin typeface="+mj-lt"/>
              </a:rPr>
              <a:t>, which acts as the core Agentic AI engine for the Smart Mechanical Fault Diagnosis System. The agent autonomously receives user queries and real-time machine sensor data (temperature, vibration, noise, and RPM), retrieves relevant knowledge from maintenance manuals, fault datasets, and historical logs, and orchestrates analytical tools to calculate machine health, fault risk, and identify root causes. Using the Granite model's reasoning capabilities, the agent generates accurate fault diagnoses, repair recommendations, and preventive maintenance guidance, delivering explainable, context-aware insights through the dashboard and APIs for proactive equipment monitoring and reduced downtime.</a:t>
            </a:r>
          </a:p>
        </p:txBody>
      </p:sp>
      <p:pic>
        <p:nvPicPr>
          <p:cNvPr id="5" name="Picture 4">
            <a:extLst>
              <a:ext uri="{FF2B5EF4-FFF2-40B4-BE49-F238E27FC236}">
                <a16:creationId xmlns:a16="http://schemas.microsoft.com/office/drawing/2014/main" id="{1D6B6F1F-8D21-2A54-36DC-66ACAFD5D6FF}"/>
              </a:ext>
            </a:extLst>
          </p:cNvPr>
          <p:cNvPicPr>
            <a:picLocks noChangeAspect="1"/>
          </p:cNvPicPr>
          <p:nvPr/>
        </p:nvPicPr>
        <p:blipFill>
          <a:blip r:embed="rId2"/>
          <a:stretch>
            <a:fillRect/>
          </a:stretch>
        </p:blipFill>
        <p:spPr>
          <a:xfrm>
            <a:off x="8178800" y="1259840"/>
            <a:ext cx="3850640" cy="3820160"/>
          </a:xfrm>
          <a:prstGeom prst="rect">
            <a:avLst/>
          </a:prstGeom>
        </p:spPr>
      </p:pic>
    </p:spTree>
    <p:extLst>
      <p:ext uri="{BB962C8B-B14F-4D97-AF65-F5344CB8AC3E}">
        <p14:creationId xmlns:p14="http://schemas.microsoft.com/office/powerpoint/2010/main" val="1689346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A609-35F7-EA42-1CF9-F75DF72A1EA7}"/>
              </a:ext>
            </a:extLst>
          </p:cNvPr>
          <p:cNvSpPr>
            <a:spLocks noGrp="1"/>
          </p:cNvSpPr>
          <p:nvPr>
            <p:ph type="title"/>
          </p:nvPr>
        </p:nvSpPr>
        <p:spPr/>
        <p:txBody>
          <a:bodyPr/>
          <a:lstStyle/>
          <a:p>
            <a:r>
              <a:rPr lang="en-US" sz="2800" b="1" dirty="0">
                <a:latin typeface="+mj-lt"/>
                <a:sym typeface="Times New Roman"/>
              </a:rPr>
              <a:t>Git Hub Link-</a:t>
            </a:r>
            <a:br>
              <a:rPr lang="en-US" b="1" dirty="0">
                <a:sym typeface="Times New Roman"/>
              </a:rPr>
            </a:br>
            <a:endParaRPr lang="en-IN" dirty="0"/>
          </a:p>
        </p:txBody>
      </p:sp>
      <p:sp>
        <p:nvSpPr>
          <p:cNvPr id="3" name="Text Placeholder 2">
            <a:extLst>
              <a:ext uri="{FF2B5EF4-FFF2-40B4-BE49-F238E27FC236}">
                <a16:creationId xmlns:a16="http://schemas.microsoft.com/office/drawing/2014/main" id="{1885B61C-9FDB-28F5-6C26-A022B04C1A03}"/>
              </a:ext>
            </a:extLst>
          </p:cNvPr>
          <p:cNvSpPr>
            <a:spLocks noGrp="1"/>
          </p:cNvSpPr>
          <p:nvPr>
            <p:ph type="body" idx="1"/>
          </p:nvPr>
        </p:nvSpPr>
        <p:spPr>
          <a:xfrm>
            <a:off x="838200" y="1239520"/>
            <a:ext cx="10515600" cy="4937443"/>
          </a:xfrm>
        </p:spPr>
        <p:txBody>
          <a:bodyPr/>
          <a:lstStyle/>
          <a:p>
            <a:pPr marL="0" lvl="0" indent="0">
              <a:lnSpc>
                <a:spcPct val="162162"/>
              </a:lnSpc>
              <a:spcBef>
                <a:spcPts val="0"/>
              </a:spcBef>
              <a:buClr>
                <a:srgbClr val="2B3541"/>
              </a:buClr>
              <a:buSzPts val="1850"/>
              <a:buNone/>
            </a:pPr>
            <a:r>
              <a:rPr lang="en-US" sz="2000" dirty="0">
                <a:solidFill>
                  <a:srgbClr val="2B3541"/>
                </a:solidFill>
                <a:latin typeface="+mj-lt"/>
                <a:ea typeface="Times New Roman"/>
                <a:cs typeface="Times New Roman"/>
                <a:sym typeface="Times New Roman"/>
              </a:rPr>
              <a:t>Please create public </a:t>
            </a:r>
            <a:r>
              <a:rPr lang="en-US" sz="2000" dirty="0" err="1">
                <a:solidFill>
                  <a:srgbClr val="2B3541"/>
                </a:solidFill>
                <a:latin typeface="+mj-lt"/>
                <a:ea typeface="Times New Roman"/>
                <a:cs typeface="Times New Roman"/>
                <a:sym typeface="Times New Roman"/>
              </a:rPr>
              <a:t>github</a:t>
            </a:r>
            <a:r>
              <a:rPr lang="en-US" sz="2000" dirty="0">
                <a:solidFill>
                  <a:srgbClr val="2B3541"/>
                </a:solidFill>
                <a:latin typeface="+mj-lt"/>
                <a:ea typeface="Times New Roman"/>
                <a:cs typeface="Times New Roman"/>
                <a:sym typeface="Times New Roman"/>
              </a:rPr>
              <a:t> repository (Enable Add README  button while creating repository) with format – </a:t>
            </a:r>
          </a:p>
          <a:p>
            <a:pPr marL="0" lvl="0" indent="0">
              <a:lnSpc>
                <a:spcPct val="162162"/>
              </a:lnSpc>
              <a:spcBef>
                <a:spcPts val="0"/>
              </a:spcBef>
              <a:buClr>
                <a:srgbClr val="2B3541"/>
              </a:buClr>
              <a:buSzPts val="1850"/>
              <a:buNone/>
            </a:pPr>
            <a:r>
              <a:rPr lang="en-US" sz="2000" dirty="0">
                <a:solidFill>
                  <a:srgbClr val="2B3541"/>
                </a:solidFill>
                <a:latin typeface="+mj-lt"/>
                <a:ea typeface="Times New Roman"/>
                <a:cs typeface="Times New Roman"/>
                <a:sym typeface="Times New Roman"/>
              </a:rPr>
              <a:t>Please test and Paste the working  </a:t>
            </a:r>
            <a:r>
              <a:rPr lang="en-US" sz="2000" dirty="0" err="1">
                <a:solidFill>
                  <a:srgbClr val="2B3541"/>
                </a:solidFill>
                <a:latin typeface="+mj-lt"/>
                <a:ea typeface="Times New Roman"/>
                <a:cs typeface="Times New Roman"/>
                <a:sym typeface="Times New Roman"/>
              </a:rPr>
              <a:t>Github</a:t>
            </a:r>
            <a:r>
              <a:rPr lang="en-US" sz="2000" dirty="0">
                <a:solidFill>
                  <a:srgbClr val="2B3541"/>
                </a:solidFill>
                <a:latin typeface="+mj-lt"/>
                <a:ea typeface="Times New Roman"/>
                <a:cs typeface="Times New Roman"/>
                <a:sym typeface="Times New Roman"/>
              </a:rPr>
              <a:t> URL –</a:t>
            </a:r>
            <a:r>
              <a:rPr lang="en-IN" sz="2000" dirty="0">
                <a:hlinkClick r:id="rId2"/>
              </a:rPr>
              <a:t>adityatupe38-lgtm/Smart-Mechanical-fault-diagnosis-agent: An AI-powered agent designed to diagnose mechanical faults in systems such as engines, pumps, and gearboxes. It </a:t>
            </a:r>
            <a:r>
              <a:rPr lang="en-IN" sz="2000" dirty="0" err="1">
                <a:hlinkClick r:id="rId2"/>
              </a:rPr>
              <a:t>analyzes</a:t>
            </a:r>
            <a:r>
              <a:rPr lang="en-IN" sz="2000" dirty="0">
                <a:hlinkClick r:id="rId2"/>
              </a:rPr>
              <a:t> sensor data, vibration patterns, and maintenance logs to identify symptoms, determine root causes, and provide repair guidance.</a:t>
            </a:r>
            <a:endParaRPr lang="en-US" sz="2000" dirty="0">
              <a:solidFill>
                <a:srgbClr val="2B3541"/>
              </a:solidFill>
              <a:latin typeface="+mj-lt"/>
              <a:ea typeface="Times New Roman"/>
              <a:cs typeface="Times New Roman"/>
            </a:endParaRPr>
          </a:p>
          <a:p>
            <a:pPr marL="114300" indent="0">
              <a:buNone/>
            </a:pPr>
            <a:endParaRPr lang="en-IN" dirty="0"/>
          </a:p>
        </p:txBody>
      </p:sp>
    </p:spTree>
    <p:extLst>
      <p:ext uri="{BB962C8B-B14F-4D97-AF65-F5344CB8AC3E}">
        <p14:creationId xmlns:p14="http://schemas.microsoft.com/office/powerpoint/2010/main" val="3140320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01533-86A0-A7E7-D980-0BBF35378094}"/>
              </a:ext>
            </a:extLst>
          </p:cNvPr>
          <p:cNvSpPr>
            <a:spLocks noGrp="1"/>
          </p:cNvSpPr>
          <p:nvPr>
            <p:ph type="title"/>
          </p:nvPr>
        </p:nvSpPr>
        <p:spPr/>
        <p:txBody>
          <a:bodyPr/>
          <a:lstStyle/>
          <a:p>
            <a:r>
              <a:rPr lang="en-US" sz="2800" b="1" dirty="0">
                <a:latin typeface="+mj-lt"/>
              </a:rPr>
              <a:t>Novelty and Uniqueness</a:t>
            </a:r>
            <a:br>
              <a:rPr lang="en-IN" b="1" dirty="0"/>
            </a:br>
            <a:endParaRPr lang="en-IN" dirty="0"/>
          </a:p>
        </p:txBody>
      </p:sp>
      <p:sp>
        <p:nvSpPr>
          <p:cNvPr id="3" name="Text Placeholder 2">
            <a:extLst>
              <a:ext uri="{FF2B5EF4-FFF2-40B4-BE49-F238E27FC236}">
                <a16:creationId xmlns:a16="http://schemas.microsoft.com/office/drawing/2014/main" id="{E6C172D5-3BB1-2FC5-BB6D-2AA21AE8A5FE}"/>
              </a:ext>
            </a:extLst>
          </p:cNvPr>
          <p:cNvSpPr>
            <a:spLocks noGrp="1"/>
          </p:cNvSpPr>
          <p:nvPr>
            <p:ph type="body" idx="1"/>
          </p:nvPr>
        </p:nvSpPr>
        <p:spPr>
          <a:xfrm>
            <a:off x="838200" y="1381760"/>
            <a:ext cx="10515600" cy="4795203"/>
          </a:xfrm>
        </p:spPr>
        <p:txBody>
          <a:bodyPr>
            <a:normAutofit fontScale="92500" lnSpcReduction="10000"/>
          </a:bodyPr>
          <a:lstStyle/>
          <a:p>
            <a:r>
              <a:rPr lang="en-IN" sz="2200" b="1" dirty="0">
                <a:latin typeface="+mj-lt"/>
              </a:rPr>
              <a:t>Agentic AI-powered solution</a:t>
            </a:r>
            <a:r>
              <a:rPr lang="en-IN" sz="2200" dirty="0">
                <a:latin typeface="+mj-lt"/>
              </a:rPr>
              <a:t> using </a:t>
            </a:r>
            <a:r>
              <a:rPr lang="en-IN" sz="2200" b="1" dirty="0">
                <a:latin typeface="+mj-lt"/>
              </a:rPr>
              <a:t>IBM watsonx.ai</a:t>
            </a:r>
            <a:r>
              <a:rPr lang="en-IN" sz="2200" dirty="0">
                <a:latin typeface="+mj-lt"/>
              </a:rPr>
              <a:t> and the </a:t>
            </a:r>
            <a:r>
              <a:rPr lang="en-IN" sz="2200" b="1" dirty="0">
                <a:latin typeface="+mj-lt"/>
              </a:rPr>
              <a:t>Granite foundation model</a:t>
            </a:r>
            <a:r>
              <a:rPr lang="en-IN" sz="2200" dirty="0">
                <a:latin typeface="+mj-lt"/>
              </a:rPr>
              <a:t> for autonomous fault diagnosis and decision-making. </a:t>
            </a:r>
          </a:p>
          <a:p>
            <a:r>
              <a:rPr lang="en-IN" sz="2200" b="1" dirty="0">
                <a:latin typeface="+mj-lt"/>
              </a:rPr>
              <a:t>Hybrid approach</a:t>
            </a:r>
            <a:r>
              <a:rPr lang="en-IN" sz="2200" dirty="0">
                <a:latin typeface="+mj-lt"/>
              </a:rPr>
              <a:t> combining real-time sensor data analysis with AI reasoning for more accurate fault detection. </a:t>
            </a:r>
          </a:p>
          <a:p>
            <a:r>
              <a:rPr lang="en-IN" sz="2200" b="1" dirty="0">
                <a:latin typeface="+mj-lt"/>
              </a:rPr>
              <a:t>Knowledge-driven diagnosis</a:t>
            </a:r>
            <a:r>
              <a:rPr lang="en-IN" sz="2200" dirty="0">
                <a:latin typeface="+mj-lt"/>
              </a:rPr>
              <a:t> using maintenance manuals, historical fault logs, and technical documentation through Retrieval-Augmented Generation (RAG). </a:t>
            </a:r>
          </a:p>
          <a:p>
            <a:r>
              <a:rPr lang="en-IN" sz="2200" b="1" dirty="0">
                <a:latin typeface="+mj-lt"/>
              </a:rPr>
              <a:t>Explainable AI</a:t>
            </a:r>
            <a:r>
              <a:rPr lang="en-IN" sz="2200" dirty="0">
                <a:latin typeface="+mj-lt"/>
              </a:rPr>
              <a:t> that provides root cause analysis, repair recommendations, and preventive maintenance instead of only fault predictions. </a:t>
            </a:r>
          </a:p>
          <a:p>
            <a:r>
              <a:rPr lang="en-IN" sz="2200" b="1" dirty="0">
                <a:latin typeface="+mj-lt"/>
              </a:rPr>
              <a:t>Real-time integration</a:t>
            </a:r>
            <a:r>
              <a:rPr lang="en-IN" sz="2200" dirty="0">
                <a:latin typeface="+mj-lt"/>
              </a:rPr>
              <a:t> with IoT sensors, dashboards, and APIs for continuous machine health monitoring. </a:t>
            </a:r>
          </a:p>
          <a:p>
            <a:r>
              <a:rPr lang="en-IN" sz="2200" b="1" dirty="0">
                <a:latin typeface="+mj-lt"/>
              </a:rPr>
              <a:t>Scalable and modular architecture</a:t>
            </a:r>
            <a:r>
              <a:rPr lang="en-IN" sz="2200" dirty="0">
                <a:latin typeface="+mj-lt"/>
              </a:rPr>
              <a:t> built using </a:t>
            </a:r>
            <a:r>
              <a:rPr lang="en-IN" sz="2200" dirty="0" err="1">
                <a:latin typeface="+mj-lt"/>
              </a:rPr>
              <a:t>Langflow</a:t>
            </a:r>
            <a:r>
              <a:rPr lang="en-IN" sz="2200" dirty="0">
                <a:latin typeface="+mj-lt"/>
              </a:rPr>
              <a:t>, allowing easy integration with enterprise maintenance systems and future AI tools. </a:t>
            </a:r>
          </a:p>
          <a:p>
            <a:r>
              <a:rPr lang="en-IN" sz="2200" b="1" dirty="0">
                <a:latin typeface="+mj-lt"/>
              </a:rPr>
              <a:t>Supports predictive maintenance</a:t>
            </a:r>
            <a:r>
              <a:rPr lang="en-IN" sz="2200" dirty="0">
                <a:latin typeface="+mj-lt"/>
              </a:rPr>
              <a:t>, helping reduce equipment downtime, maintenance costs, and unexpected failures. </a:t>
            </a:r>
          </a:p>
          <a:p>
            <a:pPr marL="114300" indent="0">
              <a:buNone/>
            </a:pPr>
            <a:endParaRPr lang="en-IN" dirty="0"/>
          </a:p>
        </p:txBody>
      </p:sp>
    </p:spTree>
    <p:extLst>
      <p:ext uri="{BB962C8B-B14F-4D97-AF65-F5344CB8AC3E}">
        <p14:creationId xmlns:p14="http://schemas.microsoft.com/office/powerpoint/2010/main" val="348639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2D9C-B50A-E16D-B5F4-2B4FA0188840}"/>
              </a:ext>
            </a:extLst>
          </p:cNvPr>
          <p:cNvSpPr>
            <a:spLocks noGrp="1"/>
          </p:cNvSpPr>
          <p:nvPr>
            <p:ph type="title"/>
          </p:nvPr>
        </p:nvSpPr>
        <p:spPr/>
        <p:txBody>
          <a:bodyPr/>
          <a:lstStyle/>
          <a:p>
            <a:r>
              <a:rPr lang="en-US" sz="2800" b="1" dirty="0">
                <a:latin typeface="+mj-lt"/>
                <a:sym typeface="Times New Roman"/>
              </a:rPr>
              <a:t>Future Scope </a:t>
            </a:r>
            <a:br>
              <a:rPr lang="en-US" b="1" dirty="0">
                <a:sym typeface="Times New Roman"/>
              </a:rPr>
            </a:br>
            <a:endParaRPr lang="en-IN" dirty="0"/>
          </a:p>
        </p:txBody>
      </p:sp>
      <p:sp>
        <p:nvSpPr>
          <p:cNvPr id="3" name="Text Placeholder 2">
            <a:extLst>
              <a:ext uri="{FF2B5EF4-FFF2-40B4-BE49-F238E27FC236}">
                <a16:creationId xmlns:a16="http://schemas.microsoft.com/office/drawing/2014/main" id="{D2CF12F8-A91E-AAED-C00E-194A56F85FB8}"/>
              </a:ext>
            </a:extLst>
          </p:cNvPr>
          <p:cNvSpPr>
            <a:spLocks noGrp="1"/>
          </p:cNvSpPr>
          <p:nvPr>
            <p:ph type="body" idx="1"/>
          </p:nvPr>
        </p:nvSpPr>
        <p:spPr>
          <a:xfrm>
            <a:off x="838200" y="1188720"/>
            <a:ext cx="10515600" cy="4978083"/>
          </a:xfrm>
        </p:spPr>
        <p:txBody>
          <a:bodyPr>
            <a:normAutofit/>
          </a:bodyPr>
          <a:lstStyle/>
          <a:p>
            <a:pPr algn="just"/>
            <a:r>
              <a:rPr lang="en-IN" sz="2000" dirty="0">
                <a:latin typeface="+mj-lt"/>
              </a:rPr>
              <a:t>Integrate with </a:t>
            </a:r>
            <a:r>
              <a:rPr lang="en-IN" sz="2000" b="1" dirty="0">
                <a:latin typeface="+mj-lt"/>
              </a:rPr>
              <a:t>live IoT sensors</a:t>
            </a:r>
            <a:r>
              <a:rPr lang="en-IN" sz="2000" dirty="0">
                <a:latin typeface="+mj-lt"/>
              </a:rPr>
              <a:t> for continuous real-time machine monitoring. </a:t>
            </a:r>
          </a:p>
          <a:p>
            <a:pPr algn="just"/>
            <a:r>
              <a:rPr lang="en-IN" sz="2000" dirty="0">
                <a:latin typeface="+mj-lt"/>
              </a:rPr>
              <a:t>Enhance prediction accuracy using larger industrial datasets and advanced AI models. </a:t>
            </a:r>
          </a:p>
          <a:p>
            <a:pPr algn="just"/>
            <a:r>
              <a:rPr lang="en-IN" sz="2000" dirty="0">
                <a:latin typeface="+mj-lt"/>
              </a:rPr>
              <a:t>Support </a:t>
            </a:r>
            <a:r>
              <a:rPr lang="en-IN" sz="2000" b="1" dirty="0">
                <a:latin typeface="+mj-lt"/>
              </a:rPr>
              <a:t>predictive maintenance</a:t>
            </a:r>
            <a:r>
              <a:rPr lang="en-IN" sz="2000" dirty="0">
                <a:latin typeface="+mj-lt"/>
              </a:rPr>
              <a:t> by forecasting failures before they occur. </a:t>
            </a:r>
          </a:p>
          <a:p>
            <a:pPr algn="just"/>
            <a:r>
              <a:rPr lang="en-IN" sz="2000" dirty="0">
                <a:latin typeface="+mj-lt"/>
              </a:rPr>
              <a:t>Extend compatibility to multiple types of industrial machines and equipment. </a:t>
            </a:r>
          </a:p>
          <a:p>
            <a:pPr algn="just"/>
            <a:r>
              <a:rPr lang="en-IN" sz="2000" dirty="0">
                <a:latin typeface="+mj-lt"/>
              </a:rPr>
              <a:t>Integrate with </a:t>
            </a:r>
            <a:r>
              <a:rPr lang="en-IN" sz="2000" b="1" dirty="0">
                <a:latin typeface="+mj-lt"/>
              </a:rPr>
              <a:t>CMMS/ERP systems</a:t>
            </a:r>
            <a:r>
              <a:rPr lang="en-IN" sz="2000" dirty="0">
                <a:latin typeface="+mj-lt"/>
              </a:rPr>
              <a:t> for automated maintenance scheduling and work order generation. </a:t>
            </a:r>
          </a:p>
          <a:p>
            <a:pPr algn="just"/>
            <a:r>
              <a:rPr lang="en-IN" sz="2000" dirty="0">
                <a:latin typeface="+mj-lt"/>
              </a:rPr>
              <a:t>Add multilingual support and voice-based interaction for maintenance personnel. </a:t>
            </a:r>
          </a:p>
          <a:p>
            <a:pPr algn="just"/>
            <a:r>
              <a:rPr lang="en-IN" sz="2000" dirty="0">
                <a:latin typeface="+mj-lt"/>
              </a:rPr>
              <a:t>Develop a mobile application with real-time alerts and remote monitoring capabilities. </a:t>
            </a:r>
          </a:p>
          <a:p>
            <a:pPr algn="just"/>
            <a:r>
              <a:rPr lang="en-IN" sz="2000" dirty="0">
                <a:latin typeface="+mj-lt"/>
              </a:rPr>
              <a:t>Incorporate digital twin technology for simulation and advanced fault analysis. </a:t>
            </a:r>
          </a:p>
          <a:p>
            <a:pPr marL="114300" indent="0">
              <a:buNone/>
            </a:pPr>
            <a:endParaRPr lang="en-IN" dirty="0"/>
          </a:p>
        </p:txBody>
      </p:sp>
    </p:spTree>
    <p:extLst>
      <p:ext uri="{BB962C8B-B14F-4D97-AF65-F5344CB8AC3E}">
        <p14:creationId xmlns:p14="http://schemas.microsoft.com/office/powerpoint/2010/main" val="1130931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DBCBC-CB0B-1FDB-9D86-FA2EE364B511}"/>
              </a:ext>
            </a:extLst>
          </p:cNvPr>
          <p:cNvSpPr>
            <a:spLocks noGrp="1"/>
          </p:cNvSpPr>
          <p:nvPr>
            <p:ph type="title"/>
          </p:nvPr>
        </p:nvSpPr>
        <p:spPr>
          <a:xfrm>
            <a:off x="838200" y="0"/>
            <a:ext cx="10515600" cy="1325563"/>
          </a:xfrm>
        </p:spPr>
        <p:txBody>
          <a:bodyPr>
            <a:normAutofit/>
          </a:bodyPr>
          <a:lstStyle/>
          <a:p>
            <a:r>
              <a:rPr lang="en-US" sz="2800" b="1" dirty="0">
                <a:latin typeface="+mj-lt"/>
              </a:rPr>
              <a:t>Certificates Earned -</a:t>
            </a:r>
            <a:endParaRPr lang="en-IN" sz="2800" b="1" dirty="0">
              <a:latin typeface="+mj-lt"/>
            </a:endParaRPr>
          </a:p>
        </p:txBody>
      </p:sp>
      <p:pic>
        <p:nvPicPr>
          <p:cNvPr id="5" name="Picture 4">
            <a:extLst>
              <a:ext uri="{FF2B5EF4-FFF2-40B4-BE49-F238E27FC236}">
                <a16:creationId xmlns:a16="http://schemas.microsoft.com/office/drawing/2014/main" id="{4996D291-EC6F-6FCD-60FE-5A2DD4F44097}"/>
              </a:ext>
            </a:extLst>
          </p:cNvPr>
          <p:cNvPicPr>
            <a:picLocks noChangeAspect="1"/>
          </p:cNvPicPr>
          <p:nvPr/>
        </p:nvPicPr>
        <p:blipFill>
          <a:blip r:embed="rId2"/>
          <a:stretch>
            <a:fillRect/>
          </a:stretch>
        </p:blipFill>
        <p:spPr>
          <a:xfrm>
            <a:off x="1289496" y="1026160"/>
            <a:ext cx="9613007" cy="5679440"/>
          </a:xfrm>
          <a:prstGeom prst="rect">
            <a:avLst/>
          </a:prstGeom>
        </p:spPr>
      </p:pic>
    </p:spTree>
    <p:extLst>
      <p:ext uri="{BB962C8B-B14F-4D97-AF65-F5344CB8AC3E}">
        <p14:creationId xmlns:p14="http://schemas.microsoft.com/office/powerpoint/2010/main" val="2810932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B9C12C-5C70-7608-965B-447E68FCA02B}"/>
              </a:ext>
            </a:extLst>
          </p:cNvPr>
          <p:cNvPicPr>
            <a:picLocks noChangeAspect="1"/>
          </p:cNvPicPr>
          <p:nvPr/>
        </p:nvPicPr>
        <p:blipFill>
          <a:blip r:embed="rId2"/>
          <a:stretch>
            <a:fillRect/>
          </a:stretch>
        </p:blipFill>
        <p:spPr>
          <a:xfrm>
            <a:off x="826682" y="462280"/>
            <a:ext cx="10538636" cy="5933440"/>
          </a:xfrm>
          <a:prstGeom prst="rect">
            <a:avLst/>
          </a:prstGeom>
        </p:spPr>
      </p:pic>
    </p:spTree>
    <p:extLst>
      <p:ext uri="{BB962C8B-B14F-4D97-AF65-F5344CB8AC3E}">
        <p14:creationId xmlns:p14="http://schemas.microsoft.com/office/powerpoint/2010/main" val="528477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A79FAD-1BC0-BF68-D702-30AB69E40EC8}"/>
              </a:ext>
            </a:extLst>
          </p:cNvPr>
          <p:cNvPicPr>
            <a:picLocks noChangeAspect="1"/>
          </p:cNvPicPr>
          <p:nvPr/>
        </p:nvPicPr>
        <p:blipFill>
          <a:blip r:embed="rId2"/>
          <a:stretch>
            <a:fillRect/>
          </a:stretch>
        </p:blipFill>
        <p:spPr>
          <a:xfrm>
            <a:off x="1897016" y="197840"/>
            <a:ext cx="8397968" cy="6462320"/>
          </a:xfrm>
          <a:prstGeom prst="rect">
            <a:avLst/>
          </a:prstGeom>
        </p:spPr>
      </p:pic>
    </p:spTree>
    <p:extLst>
      <p:ext uri="{BB962C8B-B14F-4D97-AF65-F5344CB8AC3E}">
        <p14:creationId xmlns:p14="http://schemas.microsoft.com/office/powerpoint/2010/main" val="2645782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D6FBA4-3E52-6635-F56F-159506922BE4}"/>
              </a:ext>
            </a:extLst>
          </p:cNvPr>
          <p:cNvPicPr>
            <a:picLocks noChangeAspect="1"/>
          </p:cNvPicPr>
          <p:nvPr/>
        </p:nvPicPr>
        <p:blipFill>
          <a:blip r:embed="rId2"/>
          <a:stretch>
            <a:fillRect/>
          </a:stretch>
        </p:blipFill>
        <p:spPr>
          <a:xfrm>
            <a:off x="789754" y="388620"/>
            <a:ext cx="10612491" cy="6080760"/>
          </a:xfrm>
          <a:prstGeom prst="rect">
            <a:avLst/>
          </a:prstGeom>
        </p:spPr>
      </p:pic>
    </p:spTree>
    <p:extLst>
      <p:ext uri="{BB962C8B-B14F-4D97-AF65-F5344CB8AC3E}">
        <p14:creationId xmlns:p14="http://schemas.microsoft.com/office/powerpoint/2010/main" val="977402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636DDB-7350-4263-2782-383CFC4FA85A}"/>
              </a:ext>
            </a:extLst>
          </p:cNvPr>
          <p:cNvPicPr>
            <a:picLocks noChangeAspect="1"/>
          </p:cNvPicPr>
          <p:nvPr/>
        </p:nvPicPr>
        <p:blipFill>
          <a:blip r:embed="rId2"/>
          <a:stretch>
            <a:fillRect/>
          </a:stretch>
        </p:blipFill>
        <p:spPr>
          <a:xfrm>
            <a:off x="877956" y="436880"/>
            <a:ext cx="10436087" cy="6212840"/>
          </a:xfrm>
          <a:prstGeom prst="rect">
            <a:avLst/>
          </a:prstGeom>
        </p:spPr>
      </p:pic>
    </p:spTree>
    <p:extLst>
      <p:ext uri="{BB962C8B-B14F-4D97-AF65-F5344CB8AC3E}">
        <p14:creationId xmlns:p14="http://schemas.microsoft.com/office/powerpoint/2010/main" val="2432884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85FD-BC35-16AD-E268-7DA306590024}"/>
              </a:ext>
            </a:extLst>
          </p:cNvPr>
          <p:cNvSpPr>
            <a:spLocks noGrp="1"/>
          </p:cNvSpPr>
          <p:nvPr>
            <p:ph type="title"/>
          </p:nvPr>
        </p:nvSpPr>
        <p:spPr>
          <a:xfrm>
            <a:off x="838200" y="2766218"/>
            <a:ext cx="10515600" cy="1325563"/>
          </a:xfrm>
        </p:spPr>
        <p:txBody>
          <a:bodyPr>
            <a:normAutofit/>
          </a:bodyPr>
          <a:lstStyle/>
          <a:p>
            <a:pPr algn="ctr"/>
            <a:r>
              <a:rPr lang="en-US" sz="7000" dirty="0">
                <a:latin typeface="+mj-lt"/>
              </a:rPr>
              <a:t>Thank you!</a:t>
            </a:r>
            <a:br>
              <a:rPr lang="en-US" dirty="0"/>
            </a:br>
            <a:r>
              <a:rPr lang="en-US" sz="1700" dirty="0"/>
              <a:t>Thank you for your time and interest</a:t>
            </a:r>
            <a:endParaRPr lang="en-IN" sz="1700" dirty="0"/>
          </a:p>
        </p:txBody>
      </p:sp>
    </p:spTree>
    <p:extLst>
      <p:ext uri="{BB962C8B-B14F-4D97-AF65-F5344CB8AC3E}">
        <p14:creationId xmlns:p14="http://schemas.microsoft.com/office/powerpoint/2010/main" val="384363403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TotalTime>
  <Words>1354</Words>
  <Application>Microsoft Office PowerPoint</Application>
  <PresentationFormat>Widescreen</PresentationFormat>
  <Paragraphs>94</Paragraphs>
  <Slides>19</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Langflow Components Used –</vt:lpstr>
      <vt:lpstr>Langflow Workflow -</vt:lpstr>
      <vt:lpstr>Smart Mechanical Fault Diagnosis Agent -</vt:lpstr>
      <vt:lpstr>Architecture blueprint</vt:lpstr>
      <vt:lpstr>Role of Agentic AI in the solution  </vt:lpstr>
      <vt:lpstr>Git Hub Link- </vt:lpstr>
      <vt:lpstr>Novelty and Uniqueness </vt:lpstr>
      <vt:lpstr>Future Scope  </vt:lpstr>
      <vt:lpstr>Certificates Earned -</vt:lpstr>
      <vt:lpstr>PowerPoint Presentation</vt:lpstr>
      <vt:lpstr>PowerPoint Presentation</vt:lpstr>
      <vt:lpstr>PowerPoint Presentation</vt:lpstr>
      <vt:lpstr>PowerPoint Presentation</vt:lpstr>
      <vt:lpstr>Thank you! Thank you for your time and interest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adityatupe38@gmail.com</cp:lastModifiedBy>
  <cp:revision>18</cp:revision>
  <dcterms:created xsi:type="dcterms:W3CDTF">2025-07-08T05:06:56Z</dcterms:created>
  <dcterms:modified xsi:type="dcterms:W3CDTF">2026-07-15T02:31:56Z</dcterms:modified>
</cp:coreProperties>
</file>